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Baskerville Display PT" charset="1" panose="02030602080406020203"/>
      <p:regular r:id="rId11"/>
    </p:embeddedFont>
    <p:embeddedFont>
      <p:font typeface="Inter" charset="1" panose="020B0502030000000004"/>
      <p:regular r:id="rId12"/>
    </p:embeddedFont>
    <p:embeddedFont>
      <p:font typeface="Baskerville Display PT Bold" charset="1" panose="02030702080406020203"/>
      <p:regular r:id="rId13"/>
    </p:embeddedFont>
    <p:embeddedFont>
      <p:font typeface="Inter Bold Italics" charset="1" panose="020B08020300000000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3ECF9"/>
        </a:solidFill>
      </p:bgPr>
    </p:bg>
    <p:spTree>
      <p:nvGrpSpPr>
        <p:cNvPr id="1" name=""/>
        <p:cNvGrpSpPr/>
        <p:nvPr/>
      </p:nvGrpSpPr>
      <p:grpSpPr>
        <a:xfrm>
          <a:off x="0" y="0"/>
          <a:ext cx="0" cy="0"/>
          <a:chOff x="0" y="0"/>
          <a:chExt cx="0" cy="0"/>
        </a:xfrm>
      </p:grpSpPr>
      <p:sp>
        <p:nvSpPr>
          <p:cNvPr name="Freeform 2" id="2"/>
          <p:cNvSpPr/>
          <p:nvPr/>
        </p:nvSpPr>
        <p:spPr>
          <a:xfrm flipH="false" flipV="false" rot="0">
            <a:off x="6918501" y="772166"/>
            <a:ext cx="4450997" cy="5008154"/>
          </a:xfrm>
          <a:custGeom>
            <a:avLst/>
            <a:gdLst/>
            <a:ahLst/>
            <a:cxnLst/>
            <a:rect r="r" b="b" t="t" l="l"/>
            <a:pathLst>
              <a:path h="5008154" w="4450997">
                <a:moveTo>
                  <a:pt x="0" y="0"/>
                </a:moveTo>
                <a:lnTo>
                  <a:pt x="4450998" y="0"/>
                </a:lnTo>
                <a:lnTo>
                  <a:pt x="4450998" y="5008154"/>
                </a:lnTo>
                <a:lnTo>
                  <a:pt x="0" y="5008154"/>
                </a:lnTo>
                <a:lnTo>
                  <a:pt x="0" y="0"/>
                </a:lnTo>
                <a:close/>
              </a:path>
            </a:pathLst>
          </a:custGeom>
          <a:blipFill>
            <a:blip r:embed="rId2"/>
            <a:stretch>
              <a:fillRect l="0" t="0" r="0" b="0"/>
            </a:stretch>
          </a:blipFill>
        </p:spPr>
      </p:sp>
      <p:sp>
        <p:nvSpPr>
          <p:cNvPr name="Freeform 3" id="3"/>
          <p:cNvSpPr/>
          <p:nvPr/>
        </p:nvSpPr>
        <p:spPr>
          <a:xfrm flipH="false" flipV="false" rot="0">
            <a:off x="7109044" y="2348810"/>
            <a:ext cx="4069911" cy="4114800"/>
          </a:xfrm>
          <a:custGeom>
            <a:avLst/>
            <a:gdLst/>
            <a:ahLst/>
            <a:cxnLst/>
            <a:rect r="r" b="b" t="t" l="l"/>
            <a:pathLst>
              <a:path h="4114800" w="4069911">
                <a:moveTo>
                  <a:pt x="0" y="0"/>
                </a:moveTo>
                <a:lnTo>
                  <a:pt x="4069912" y="0"/>
                </a:lnTo>
                <a:lnTo>
                  <a:pt x="406991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000910" y="6330260"/>
            <a:ext cx="8619675" cy="1177844"/>
          </a:xfrm>
          <a:prstGeom prst="rect">
            <a:avLst/>
          </a:prstGeom>
        </p:spPr>
        <p:txBody>
          <a:bodyPr anchor="t" rtlCol="false" tIns="0" lIns="0" bIns="0" rIns="0">
            <a:spAutoFit/>
          </a:bodyPr>
          <a:lstStyle/>
          <a:p>
            <a:pPr algn="ctr">
              <a:lnSpc>
                <a:spcPts val="9629"/>
              </a:lnSpc>
            </a:pPr>
            <a:r>
              <a:rPr lang="en-US" sz="6878" spc="1375">
                <a:solidFill>
                  <a:srgbClr val="504C44"/>
                </a:solidFill>
                <a:latin typeface="Baskerville Display PT"/>
                <a:ea typeface="Baskerville Display PT"/>
                <a:cs typeface="Baskerville Display PT"/>
                <a:sym typeface="Baskerville Display PT"/>
              </a:rPr>
              <a:t>BLUE FINANCE</a:t>
            </a:r>
          </a:p>
        </p:txBody>
      </p:sp>
      <p:sp>
        <p:nvSpPr>
          <p:cNvPr name="TextBox 5" id="5"/>
          <p:cNvSpPr txBox="true"/>
          <p:nvPr/>
        </p:nvSpPr>
        <p:spPr>
          <a:xfrm rot="0">
            <a:off x="5847343" y="7758378"/>
            <a:ext cx="6593314" cy="416262"/>
          </a:xfrm>
          <a:prstGeom prst="rect">
            <a:avLst/>
          </a:prstGeom>
        </p:spPr>
        <p:txBody>
          <a:bodyPr anchor="t" rtlCol="false" tIns="0" lIns="0" bIns="0" rIns="0">
            <a:spAutoFit/>
          </a:bodyPr>
          <a:lstStyle/>
          <a:p>
            <a:pPr algn="ctr">
              <a:lnSpc>
                <a:spcPts val="3306"/>
              </a:lnSpc>
            </a:pPr>
            <a:r>
              <a:rPr lang="en-US" sz="2361" spc="472">
                <a:solidFill>
                  <a:srgbClr val="504C44"/>
                </a:solidFill>
                <a:latin typeface="Inter"/>
                <a:ea typeface="Inter"/>
                <a:cs typeface="Inter"/>
                <a:sym typeface="Inter"/>
              </a:rPr>
              <a:t>AUTHOR: KHUSHBOO ASHRA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3ECF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224562"/>
            <a:ext cx="6993093" cy="4659149"/>
          </a:xfrm>
          <a:custGeom>
            <a:avLst/>
            <a:gdLst/>
            <a:ahLst/>
            <a:cxnLst/>
            <a:rect r="r" b="b" t="t" l="l"/>
            <a:pathLst>
              <a:path h="4659149" w="6993093">
                <a:moveTo>
                  <a:pt x="0" y="0"/>
                </a:moveTo>
                <a:lnTo>
                  <a:pt x="6993093" y="0"/>
                </a:lnTo>
                <a:lnTo>
                  <a:pt x="6993093" y="4659148"/>
                </a:lnTo>
                <a:lnTo>
                  <a:pt x="0" y="4659148"/>
                </a:lnTo>
                <a:lnTo>
                  <a:pt x="0" y="0"/>
                </a:lnTo>
                <a:close/>
              </a:path>
            </a:pathLst>
          </a:custGeom>
          <a:blipFill>
            <a:blip r:embed="rId2"/>
            <a:stretch>
              <a:fillRect l="0" t="0" r="0" b="0"/>
            </a:stretch>
          </a:blipFill>
        </p:spPr>
      </p:sp>
      <p:sp>
        <p:nvSpPr>
          <p:cNvPr name="TextBox 3" id="3"/>
          <p:cNvSpPr txBox="true"/>
          <p:nvPr/>
        </p:nvSpPr>
        <p:spPr>
          <a:xfrm rot="0">
            <a:off x="8914078" y="3746751"/>
            <a:ext cx="7829740" cy="3957955"/>
          </a:xfrm>
          <a:prstGeom prst="rect">
            <a:avLst/>
          </a:prstGeom>
        </p:spPr>
        <p:txBody>
          <a:bodyPr anchor="t" rtlCol="false" tIns="0" lIns="0" bIns="0" rIns="0">
            <a:spAutoFit/>
          </a:bodyPr>
          <a:lstStyle/>
          <a:p>
            <a:pPr algn="l">
              <a:lnSpc>
                <a:spcPts val="3919"/>
              </a:lnSpc>
            </a:pPr>
            <a:r>
              <a:rPr lang="en-US" sz="2799">
                <a:solidFill>
                  <a:srgbClr val="504C44"/>
                </a:solidFill>
                <a:latin typeface="Inter"/>
                <a:ea typeface="Inter"/>
                <a:cs typeface="Inter"/>
                <a:sym typeface="Inter"/>
              </a:rPr>
              <a:t>Blue Finance refers to the use of financial instruments for promoting sustainable use of marine resources and conservation of the ocean. It aim at safeguarding the water resources and our access to it. It falls under the broader concept of the "blue economy," which seeks to balance economic growth with the preservation of ocean ecosystems</a:t>
            </a:r>
          </a:p>
        </p:txBody>
      </p:sp>
      <p:sp>
        <p:nvSpPr>
          <p:cNvPr name="TextBox 4" id="4"/>
          <p:cNvSpPr txBox="true"/>
          <p:nvPr/>
        </p:nvSpPr>
        <p:spPr>
          <a:xfrm rot="0">
            <a:off x="8914078" y="1306986"/>
            <a:ext cx="7829740" cy="1739901"/>
          </a:xfrm>
          <a:prstGeom prst="rect">
            <a:avLst/>
          </a:prstGeom>
        </p:spPr>
        <p:txBody>
          <a:bodyPr anchor="t" rtlCol="false" tIns="0" lIns="0" bIns="0" rIns="0">
            <a:spAutoFit/>
          </a:bodyPr>
          <a:lstStyle/>
          <a:p>
            <a:pPr algn="l">
              <a:lnSpc>
                <a:spcPts val="6999"/>
              </a:lnSpc>
            </a:pPr>
            <a:r>
              <a:rPr lang="en-US" b="true" sz="4999" spc="999">
                <a:solidFill>
                  <a:srgbClr val="504C44"/>
                </a:solidFill>
                <a:latin typeface="Baskerville Display PT Bold"/>
                <a:ea typeface="Baskerville Display PT Bold"/>
                <a:cs typeface="Baskerville Display PT Bold"/>
                <a:sym typeface="Baskerville Display PT Bold"/>
              </a:rPr>
              <a:t>WHAT IS BLUE FINANCE?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3ECF9"/>
        </a:solidFill>
      </p:bgPr>
    </p:bg>
    <p:spTree>
      <p:nvGrpSpPr>
        <p:cNvPr id="1" name=""/>
        <p:cNvGrpSpPr/>
        <p:nvPr/>
      </p:nvGrpSpPr>
      <p:grpSpPr>
        <a:xfrm>
          <a:off x="0" y="0"/>
          <a:ext cx="0" cy="0"/>
          <a:chOff x="0" y="0"/>
          <a:chExt cx="0" cy="0"/>
        </a:xfrm>
      </p:grpSpPr>
      <p:grpSp>
        <p:nvGrpSpPr>
          <p:cNvPr name="Group 2" id="2"/>
          <p:cNvGrpSpPr/>
          <p:nvPr/>
        </p:nvGrpSpPr>
        <p:grpSpPr>
          <a:xfrm rot="0">
            <a:off x="9470291" y="3403543"/>
            <a:ext cx="7464012" cy="3839568"/>
            <a:chOff x="0" y="0"/>
            <a:chExt cx="9952016" cy="5119424"/>
          </a:xfrm>
        </p:grpSpPr>
        <p:pic>
          <p:nvPicPr>
            <p:cNvPr name="Picture 3" id="3"/>
            <p:cNvPicPr>
              <a:picLocks noChangeAspect="true"/>
            </p:cNvPicPr>
            <p:nvPr/>
          </p:nvPicPr>
          <p:blipFill>
            <a:blip r:embed="rId2"/>
            <a:srcRect l="0" t="11395" r="0" b="11395"/>
            <a:stretch>
              <a:fillRect/>
            </a:stretch>
          </p:blipFill>
          <p:spPr>
            <a:xfrm flipH="false" flipV="false">
              <a:off x="0" y="0"/>
              <a:ext cx="9952016" cy="5119424"/>
            </a:xfrm>
            <a:prstGeom prst="rect">
              <a:avLst/>
            </a:prstGeom>
          </p:spPr>
        </p:pic>
      </p:grpSp>
      <p:sp>
        <p:nvSpPr>
          <p:cNvPr name="TextBox 4" id="4"/>
          <p:cNvSpPr txBox="true"/>
          <p:nvPr/>
        </p:nvSpPr>
        <p:spPr>
          <a:xfrm rot="0">
            <a:off x="1620345" y="569445"/>
            <a:ext cx="14542951" cy="1739901"/>
          </a:xfrm>
          <a:prstGeom prst="rect">
            <a:avLst/>
          </a:prstGeom>
        </p:spPr>
        <p:txBody>
          <a:bodyPr anchor="t" rtlCol="false" tIns="0" lIns="0" bIns="0" rIns="0">
            <a:spAutoFit/>
          </a:bodyPr>
          <a:lstStyle/>
          <a:p>
            <a:pPr algn="ctr">
              <a:lnSpc>
                <a:spcPts val="6999"/>
              </a:lnSpc>
            </a:pPr>
            <a:r>
              <a:rPr lang="en-US" b="true" sz="4999" spc="999">
                <a:solidFill>
                  <a:srgbClr val="504C44"/>
                </a:solidFill>
                <a:latin typeface="Baskerville Display PT Bold"/>
                <a:ea typeface="Baskerville Display PT Bold"/>
                <a:cs typeface="Baskerville Display PT Bold"/>
                <a:sym typeface="Baskerville Display PT Bold"/>
              </a:rPr>
              <a:t>ACTIVITIES INCULCATED IN BLUE FINANCE</a:t>
            </a:r>
          </a:p>
        </p:txBody>
      </p:sp>
      <p:sp>
        <p:nvSpPr>
          <p:cNvPr name="TextBox 5" id="5"/>
          <p:cNvSpPr txBox="true"/>
          <p:nvPr/>
        </p:nvSpPr>
        <p:spPr>
          <a:xfrm rot="0">
            <a:off x="658316" y="2601819"/>
            <a:ext cx="8233505" cy="6929755"/>
          </a:xfrm>
          <a:prstGeom prst="rect">
            <a:avLst/>
          </a:prstGeom>
        </p:spPr>
        <p:txBody>
          <a:bodyPr anchor="t" rtlCol="false" tIns="0" lIns="0" bIns="0" rIns="0">
            <a:spAutoFit/>
          </a:bodyPr>
          <a:lstStyle/>
          <a:p>
            <a:pPr algn="l" marL="604516" indent="-302258" lvl="1">
              <a:lnSpc>
                <a:spcPts val="3919"/>
              </a:lnSpc>
              <a:buFont typeface="Arial"/>
              <a:buChar char="•"/>
            </a:pPr>
            <a:r>
              <a:rPr lang="en-US" b="true" sz="2799" i="true">
                <a:solidFill>
                  <a:srgbClr val="504C44"/>
                </a:solidFill>
                <a:latin typeface="Inter Bold Italics"/>
                <a:ea typeface="Inter Bold Italics"/>
                <a:cs typeface="Inter Bold Italics"/>
                <a:sym typeface="Inter Bold Italics"/>
              </a:rPr>
              <a:t>Sustainable fisheries and aquaculture:</a:t>
            </a:r>
            <a:r>
              <a:rPr lang="en-US" sz="2799">
                <a:solidFill>
                  <a:srgbClr val="504C44"/>
                </a:solidFill>
                <a:latin typeface="Inter"/>
                <a:ea typeface="Inter"/>
                <a:cs typeface="Inter"/>
                <a:sym typeface="Inter"/>
              </a:rPr>
              <a:t> Ensuring fishing practices are sustainable and that marine ecosystems remain healthy.</a:t>
            </a:r>
          </a:p>
          <a:p>
            <a:pPr algn="l" marL="604516" indent="-302258" lvl="1">
              <a:lnSpc>
                <a:spcPts val="3919"/>
              </a:lnSpc>
              <a:buFont typeface="Arial"/>
              <a:buChar char="•"/>
            </a:pPr>
            <a:r>
              <a:rPr lang="en-US" b="true" sz="2799" i="true">
                <a:solidFill>
                  <a:srgbClr val="504C44"/>
                </a:solidFill>
                <a:latin typeface="Inter Bold Italics"/>
                <a:ea typeface="Inter Bold Italics"/>
                <a:cs typeface="Inter Bold Italics"/>
                <a:sym typeface="Inter Bold Italics"/>
              </a:rPr>
              <a:t>Marine conservation:</a:t>
            </a:r>
            <a:r>
              <a:rPr lang="en-US" sz="2799">
                <a:solidFill>
                  <a:srgbClr val="504C44"/>
                </a:solidFill>
                <a:latin typeface="Inter"/>
                <a:ea typeface="Inter"/>
                <a:cs typeface="Inter"/>
                <a:sym typeface="Inter"/>
              </a:rPr>
              <a:t> Protecting coral reefs, mangroves, and other vital marine habitats.</a:t>
            </a:r>
          </a:p>
          <a:p>
            <a:pPr algn="l" marL="604516" indent="-302258" lvl="1">
              <a:lnSpc>
                <a:spcPts val="3919"/>
              </a:lnSpc>
              <a:buFont typeface="Arial"/>
              <a:buChar char="•"/>
            </a:pPr>
            <a:r>
              <a:rPr lang="en-US" b="true" sz="2799" i="true">
                <a:solidFill>
                  <a:srgbClr val="504C44"/>
                </a:solidFill>
                <a:latin typeface="Inter Bold Italics"/>
                <a:ea typeface="Inter Bold Italics"/>
                <a:cs typeface="Inter Bold Italics"/>
                <a:sym typeface="Inter Bold Italics"/>
              </a:rPr>
              <a:t>Renewable marine energy:</a:t>
            </a:r>
            <a:r>
              <a:rPr lang="en-US" sz="2799">
                <a:solidFill>
                  <a:srgbClr val="504C44"/>
                </a:solidFill>
                <a:latin typeface="Inter"/>
                <a:ea typeface="Inter"/>
                <a:cs typeface="Inter"/>
                <a:sym typeface="Inter"/>
              </a:rPr>
              <a:t> Investing in offshore wind, tidal, and wave energy.</a:t>
            </a:r>
          </a:p>
          <a:p>
            <a:pPr algn="l" marL="604516" indent="-302258" lvl="1">
              <a:lnSpc>
                <a:spcPts val="3919"/>
              </a:lnSpc>
              <a:buFont typeface="Arial"/>
              <a:buChar char="•"/>
            </a:pPr>
            <a:r>
              <a:rPr lang="en-US" b="true" sz="2799" i="true">
                <a:solidFill>
                  <a:srgbClr val="504C44"/>
                </a:solidFill>
                <a:latin typeface="Inter Bold Italics"/>
                <a:ea typeface="Inter Bold Italics"/>
                <a:cs typeface="Inter Bold Italics"/>
                <a:sym typeface="Inter Bold Italics"/>
              </a:rPr>
              <a:t>Sustainable tourism:</a:t>
            </a:r>
            <a:r>
              <a:rPr lang="en-US" sz="2799">
                <a:solidFill>
                  <a:srgbClr val="504C44"/>
                </a:solidFill>
                <a:latin typeface="Inter"/>
                <a:ea typeface="Inter"/>
                <a:cs typeface="Inter"/>
                <a:sym typeface="Inter"/>
              </a:rPr>
              <a:t> Developing tourism that minimizes environmental impact on coastal and marine areas.</a:t>
            </a:r>
          </a:p>
          <a:p>
            <a:pPr algn="l" marL="604516" indent="-302258" lvl="1">
              <a:lnSpc>
                <a:spcPts val="3919"/>
              </a:lnSpc>
              <a:buFont typeface="Arial"/>
              <a:buChar char="•"/>
            </a:pPr>
            <a:r>
              <a:rPr lang="en-US" b="true" sz="2799" i="true">
                <a:solidFill>
                  <a:srgbClr val="504C44"/>
                </a:solidFill>
                <a:latin typeface="Inter Bold Italics"/>
                <a:ea typeface="Inter Bold Italics"/>
                <a:cs typeface="Inter Bold Italics"/>
                <a:sym typeface="Inter Bold Italics"/>
              </a:rPr>
              <a:t>Pollution control:</a:t>
            </a:r>
            <a:r>
              <a:rPr lang="en-US" sz="2799">
                <a:solidFill>
                  <a:srgbClr val="504C44"/>
                </a:solidFill>
                <a:latin typeface="Inter"/>
                <a:ea typeface="Inter"/>
                <a:cs typeface="Inter"/>
                <a:sym typeface="Inter"/>
              </a:rPr>
              <a:t> Addressing ocean plastic pollution, oil spills, and other harmful substances affecting marine life.</a:t>
            </a:r>
          </a:p>
          <a:p>
            <a:pPr algn="l">
              <a:lnSpc>
                <a:spcPts val="391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3ECF9"/>
        </a:solidFill>
      </p:bgPr>
    </p:bg>
    <p:spTree>
      <p:nvGrpSpPr>
        <p:cNvPr id="1" name=""/>
        <p:cNvGrpSpPr/>
        <p:nvPr/>
      </p:nvGrpSpPr>
      <p:grpSpPr>
        <a:xfrm>
          <a:off x="0" y="0"/>
          <a:ext cx="0" cy="0"/>
          <a:chOff x="0" y="0"/>
          <a:chExt cx="0" cy="0"/>
        </a:xfrm>
      </p:grpSpPr>
      <p:grpSp>
        <p:nvGrpSpPr>
          <p:cNvPr name="Group 2" id="2"/>
          <p:cNvGrpSpPr/>
          <p:nvPr/>
        </p:nvGrpSpPr>
        <p:grpSpPr>
          <a:xfrm rot="0">
            <a:off x="2289861" y="1028700"/>
            <a:ext cx="11397298" cy="8229600"/>
            <a:chOff x="0" y="0"/>
            <a:chExt cx="3001758" cy="2167467"/>
          </a:xfrm>
        </p:grpSpPr>
        <p:sp>
          <p:nvSpPr>
            <p:cNvPr name="Freeform 3" id="3"/>
            <p:cNvSpPr/>
            <p:nvPr/>
          </p:nvSpPr>
          <p:spPr>
            <a:xfrm flipH="false" flipV="false" rot="0">
              <a:off x="0" y="0"/>
              <a:ext cx="3001757" cy="2167467"/>
            </a:xfrm>
            <a:custGeom>
              <a:avLst/>
              <a:gdLst/>
              <a:ahLst/>
              <a:cxnLst/>
              <a:rect r="r" b="b" t="t" l="l"/>
              <a:pathLst>
                <a:path h="2167467" w="3001757">
                  <a:moveTo>
                    <a:pt x="0" y="0"/>
                  </a:moveTo>
                  <a:lnTo>
                    <a:pt x="3001757" y="0"/>
                  </a:lnTo>
                  <a:lnTo>
                    <a:pt x="3001757" y="2167467"/>
                  </a:lnTo>
                  <a:lnTo>
                    <a:pt x="0" y="2167467"/>
                  </a:lnTo>
                  <a:close/>
                </a:path>
              </a:pathLst>
            </a:custGeom>
            <a:solidFill>
              <a:srgbClr val="F1EDE9"/>
            </a:solidFill>
          </p:spPr>
        </p:sp>
        <p:sp>
          <p:nvSpPr>
            <p:cNvPr name="TextBox 4" id="4"/>
            <p:cNvSpPr txBox="true"/>
            <p:nvPr/>
          </p:nvSpPr>
          <p:spPr>
            <a:xfrm>
              <a:off x="0" y="-47625"/>
              <a:ext cx="3001758" cy="2215092"/>
            </a:xfrm>
            <a:prstGeom prst="rect">
              <a:avLst/>
            </a:prstGeom>
          </p:spPr>
          <p:txBody>
            <a:bodyPr anchor="ctr" rtlCol="false" tIns="50800" lIns="50800" bIns="50800" rIns="50800"/>
            <a:lstStyle/>
            <a:p>
              <a:pPr algn="ctr">
                <a:lnSpc>
                  <a:spcPts val="2800"/>
                </a:lnSpc>
              </a:pPr>
            </a:p>
          </p:txBody>
        </p:sp>
      </p:grpSp>
      <p:sp>
        <p:nvSpPr>
          <p:cNvPr name="Freeform 5" id="5"/>
          <p:cNvSpPr/>
          <p:nvPr/>
        </p:nvSpPr>
        <p:spPr>
          <a:xfrm flipH="false" flipV="false" rot="0">
            <a:off x="11211076" y="3086100"/>
            <a:ext cx="4952166" cy="4114800"/>
          </a:xfrm>
          <a:custGeom>
            <a:avLst/>
            <a:gdLst/>
            <a:ahLst/>
            <a:cxnLst/>
            <a:rect r="r" b="b" t="t" l="l"/>
            <a:pathLst>
              <a:path h="4114800" w="4952166">
                <a:moveTo>
                  <a:pt x="0" y="0"/>
                </a:moveTo>
                <a:lnTo>
                  <a:pt x="4952167" y="0"/>
                </a:lnTo>
                <a:lnTo>
                  <a:pt x="495216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251785" y="1483815"/>
            <a:ext cx="9237243" cy="1739901"/>
          </a:xfrm>
          <a:prstGeom prst="rect">
            <a:avLst/>
          </a:prstGeom>
        </p:spPr>
        <p:txBody>
          <a:bodyPr anchor="t" rtlCol="false" tIns="0" lIns="0" bIns="0" rIns="0">
            <a:spAutoFit/>
          </a:bodyPr>
          <a:lstStyle/>
          <a:p>
            <a:pPr algn="l">
              <a:lnSpc>
                <a:spcPts val="6999"/>
              </a:lnSpc>
            </a:pPr>
            <a:r>
              <a:rPr lang="en-US" b="true" sz="4999" spc="999">
                <a:solidFill>
                  <a:srgbClr val="504C44"/>
                </a:solidFill>
                <a:latin typeface="Baskerville Display PT Bold"/>
                <a:ea typeface="Baskerville Display PT Bold"/>
                <a:cs typeface="Baskerville Display PT Bold"/>
                <a:sym typeface="Baskerville Display PT Bold"/>
              </a:rPr>
              <a:t>BLUE BONDS AND BLUE LOANS</a:t>
            </a:r>
          </a:p>
        </p:txBody>
      </p:sp>
      <p:sp>
        <p:nvSpPr>
          <p:cNvPr name="TextBox 7" id="7"/>
          <p:cNvSpPr txBox="true"/>
          <p:nvPr/>
        </p:nvSpPr>
        <p:spPr>
          <a:xfrm rot="0">
            <a:off x="3251785" y="3571501"/>
            <a:ext cx="7273083" cy="5939155"/>
          </a:xfrm>
          <a:prstGeom prst="rect">
            <a:avLst/>
          </a:prstGeom>
        </p:spPr>
        <p:txBody>
          <a:bodyPr anchor="t" rtlCol="false" tIns="0" lIns="0" bIns="0" rIns="0">
            <a:spAutoFit/>
          </a:bodyPr>
          <a:lstStyle/>
          <a:p>
            <a:pPr algn="l">
              <a:lnSpc>
                <a:spcPts val="3919"/>
              </a:lnSpc>
            </a:pPr>
            <a:r>
              <a:rPr lang="en-US" sz="2799">
                <a:solidFill>
                  <a:srgbClr val="504C44"/>
                </a:solidFill>
                <a:latin typeface="Inter"/>
                <a:ea typeface="Inter"/>
                <a:cs typeface="Inter"/>
                <a:sym typeface="Inter"/>
              </a:rPr>
              <a:t>Blue finance is a sub-part of “Climate finance” which is a result of global efforts towards tackling climate change. The United Nations and World Bank are two of the major players behind its development.</a:t>
            </a:r>
          </a:p>
          <a:p>
            <a:pPr algn="l">
              <a:lnSpc>
                <a:spcPts val="3919"/>
              </a:lnSpc>
            </a:pPr>
          </a:p>
          <a:p>
            <a:pPr algn="l">
              <a:lnSpc>
                <a:spcPts val="3919"/>
              </a:lnSpc>
            </a:pPr>
            <a:r>
              <a:rPr lang="en-US" sz="2799">
                <a:solidFill>
                  <a:srgbClr val="504C44"/>
                </a:solidFill>
                <a:latin typeface="Inter"/>
                <a:ea typeface="Inter"/>
                <a:cs typeface="Inter"/>
                <a:sym typeface="Inter"/>
              </a:rPr>
              <a:t>Blue bonds and blue loans are the two kinds of financial instruments that are being used by countries to encourage blue finance.</a:t>
            </a:r>
          </a:p>
          <a:p>
            <a:pPr algn="l">
              <a:lnSpc>
                <a:spcPts val="3919"/>
              </a:lnSpc>
            </a:pPr>
          </a:p>
          <a:p>
            <a:pPr algn="l">
              <a:lnSpc>
                <a:spcPts val="3919"/>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3ECF9"/>
        </a:solidFill>
      </p:bgPr>
    </p:bg>
    <p:spTree>
      <p:nvGrpSpPr>
        <p:cNvPr id="1" name=""/>
        <p:cNvGrpSpPr/>
        <p:nvPr/>
      </p:nvGrpSpPr>
      <p:grpSpPr>
        <a:xfrm>
          <a:off x="0" y="0"/>
          <a:ext cx="0" cy="0"/>
          <a:chOff x="0" y="0"/>
          <a:chExt cx="0" cy="0"/>
        </a:xfrm>
      </p:grpSpPr>
      <p:sp>
        <p:nvSpPr>
          <p:cNvPr name="TextBox 2" id="2"/>
          <p:cNvSpPr txBox="true"/>
          <p:nvPr/>
        </p:nvSpPr>
        <p:spPr>
          <a:xfrm rot="0">
            <a:off x="5158716" y="554037"/>
            <a:ext cx="7774998" cy="854076"/>
          </a:xfrm>
          <a:prstGeom prst="rect">
            <a:avLst/>
          </a:prstGeom>
        </p:spPr>
        <p:txBody>
          <a:bodyPr anchor="t" rtlCol="false" tIns="0" lIns="0" bIns="0" rIns="0">
            <a:spAutoFit/>
          </a:bodyPr>
          <a:lstStyle/>
          <a:p>
            <a:pPr algn="l">
              <a:lnSpc>
                <a:spcPts val="6999"/>
              </a:lnSpc>
            </a:pPr>
            <a:r>
              <a:rPr lang="en-US" b="true" sz="4999" spc="999">
                <a:solidFill>
                  <a:srgbClr val="504C44"/>
                </a:solidFill>
                <a:latin typeface="Baskerville Display PT Bold"/>
                <a:ea typeface="Baskerville Display PT Bold"/>
                <a:cs typeface="Baskerville Display PT Bold"/>
                <a:sym typeface="Baskerville Display PT Bold"/>
              </a:rPr>
              <a:t>DEVELOPMENTS</a:t>
            </a:r>
          </a:p>
        </p:txBody>
      </p:sp>
      <p:sp>
        <p:nvSpPr>
          <p:cNvPr name="TextBox 3" id="3"/>
          <p:cNvSpPr txBox="true"/>
          <p:nvPr/>
        </p:nvSpPr>
        <p:spPr>
          <a:xfrm rot="0">
            <a:off x="1551626" y="2226583"/>
            <a:ext cx="14620372" cy="7425055"/>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504C44"/>
                </a:solidFill>
                <a:latin typeface="Inter"/>
                <a:ea typeface="Inter"/>
                <a:cs typeface="Inter"/>
                <a:sym typeface="Inter"/>
              </a:rPr>
              <a:t>International Finance Corporation (IFC) started its initiatives related to blue finance in 2020 by issuing more than $1.9 billion blue bonds and loans to different institutions.</a:t>
            </a:r>
          </a:p>
          <a:p>
            <a:pPr algn="l">
              <a:lnSpc>
                <a:spcPts val="3919"/>
              </a:lnSpc>
            </a:pPr>
          </a:p>
          <a:p>
            <a:pPr algn="l" marL="604516" indent="-302258" lvl="1">
              <a:lnSpc>
                <a:spcPts val="3919"/>
              </a:lnSpc>
              <a:buFont typeface="Arial"/>
              <a:buChar char="•"/>
            </a:pPr>
            <a:r>
              <a:rPr lang="en-US" sz="2799">
                <a:solidFill>
                  <a:srgbClr val="504C44"/>
                </a:solidFill>
                <a:latin typeface="Inter"/>
                <a:ea typeface="Inter"/>
                <a:cs typeface="Inter"/>
                <a:sym typeface="Inter"/>
              </a:rPr>
              <a:t>The first blue bond was issued by BDO Unibank Inc. in the Philippines to control the issue of marine plastics. Many other countries including Thailand, some Latin American countries and Dubai have also followed suit.</a:t>
            </a:r>
          </a:p>
          <a:p>
            <a:pPr algn="l">
              <a:lnSpc>
                <a:spcPts val="3919"/>
              </a:lnSpc>
            </a:pPr>
          </a:p>
          <a:p>
            <a:pPr algn="l" marL="604516" indent="-302258" lvl="1">
              <a:lnSpc>
                <a:spcPts val="3919"/>
              </a:lnSpc>
              <a:buFont typeface="Arial"/>
              <a:buChar char="•"/>
            </a:pPr>
            <a:r>
              <a:rPr lang="en-US" sz="2799">
                <a:solidFill>
                  <a:srgbClr val="504C44"/>
                </a:solidFill>
                <a:latin typeface="Inter"/>
                <a:ea typeface="Inter"/>
                <a:cs typeface="Inter"/>
                <a:sym typeface="Inter"/>
              </a:rPr>
              <a:t>Although blue bonds are still emerging in the countries, the concept is gaining traction as countries become more aware of the importance of protecting marine ecosystems while pursuing economic development. However, challenges include developing the necessary financial infrastructure and ensuring that blue bond projects meet global sustainability standards.</a:t>
            </a:r>
          </a:p>
          <a:p>
            <a:pPr algn="l">
              <a:lnSpc>
                <a:spcPts val="3919"/>
              </a:lnSpc>
            </a:pPr>
          </a:p>
          <a:p>
            <a:pPr algn="ctr">
              <a:lnSpc>
                <a:spcPts val="3919"/>
              </a:lnSpc>
            </a:pPr>
            <a:r>
              <a:rPr lang="en-US" sz="2799">
                <a:solidFill>
                  <a:srgbClr val="504C44"/>
                </a:solidFill>
                <a:latin typeface="Inter"/>
                <a:ea typeface="Inter"/>
                <a:cs typeface="Inter"/>
                <a:sym typeface="Inter"/>
              </a:rPr>
              <a:t>Source: ifc.org, compiled by author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DAGQ6oW2JMA</dc:identifier>
  <dcterms:modified xsi:type="dcterms:W3CDTF">2011-08-01T06:04:30Z</dcterms:modified>
  <cp:revision>1</cp:revision>
  <dc:title>Blue Finance</dc:title>
</cp:coreProperties>
</file>